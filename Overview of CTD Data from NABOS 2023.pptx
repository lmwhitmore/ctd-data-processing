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3" r:id="rId3"/>
    <p:sldId id="257" r:id="rId4"/>
    <p:sldId id="258" r:id="rId5"/>
    <p:sldId id="259" r:id="rId6"/>
    <p:sldId id="260" r:id="rId7"/>
    <p:sldId id="262" r:id="rId8"/>
    <p:sldId id="265" r:id="rId9"/>
    <p:sldId id="264" r:id="rId10"/>
    <p:sldId id="261" r:id="rId11"/>
    <p:sldId id="266"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0" autoAdjust="0"/>
    <p:restoredTop sz="94660"/>
  </p:normalViewPr>
  <p:slideViewPr>
    <p:cSldViewPr snapToGrid="0">
      <p:cViewPr varScale="1">
        <p:scale>
          <a:sx n="91" d="100"/>
          <a:sy n="91" d="100"/>
        </p:scale>
        <p:origin x="290"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CE3FA5-D537-A66F-404D-17B231F2CFE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CBD63C02-2312-7CF5-6C81-E192FD8C60E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0B4ED5B-2590-9587-D58C-AB972FFE0D95}"/>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5" name="Footer Placeholder 4">
            <a:extLst>
              <a:ext uri="{FF2B5EF4-FFF2-40B4-BE49-F238E27FC236}">
                <a16:creationId xmlns:a16="http://schemas.microsoft.com/office/drawing/2014/main" id="{7B1F4467-4077-A044-BF03-C6EA6934AB0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371F770-FDDA-97AB-9F9C-8C9CF946E036}"/>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35639559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B58B18-075B-84D3-8DAB-391575840EB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F356AF-8ADD-CBF1-36FD-AB614106093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204658B-EB00-93FE-4942-8868ED403B21}"/>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5" name="Footer Placeholder 4">
            <a:extLst>
              <a:ext uri="{FF2B5EF4-FFF2-40B4-BE49-F238E27FC236}">
                <a16:creationId xmlns:a16="http://schemas.microsoft.com/office/drawing/2014/main" id="{D2B6B6B5-3EE1-A8C3-1633-54F95F818F2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B518C6E-30DA-31BD-C066-B3FE1941AB04}"/>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396607063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59CDF-4D3A-E27F-4662-23DFBB2EBDE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0C582B6-AF8D-E934-464D-D92E52486848}"/>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3583C3E-C111-3ADB-B064-A1DBF33942AB}"/>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5" name="Footer Placeholder 4">
            <a:extLst>
              <a:ext uri="{FF2B5EF4-FFF2-40B4-BE49-F238E27FC236}">
                <a16:creationId xmlns:a16="http://schemas.microsoft.com/office/drawing/2014/main" id="{28DA0ACF-574A-DCE5-5966-63F57BE89E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F66EA9F-C08A-39A6-6993-C55D970B8B41}"/>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2413384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4972C-5118-9617-395D-8CF01A97BED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60BB558-5995-8125-A5BD-DBDECA85107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59FFEE5-9F6B-6529-2076-7512BFAE3A2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8A7A75E-C0BD-1F83-E2E6-7C899086665D}"/>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6" name="Footer Placeholder 5">
            <a:extLst>
              <a:ext uri="{FF2B5EF4-FFF2-40B4-BE49-F238E27FC236}">
                <a16:creationId xmlns:a16="http://schemas.microsoft.com/office/drawing/2014/main" id="{3FEC7DA0-FA92-23C6-78EB-D210CAD0FC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A152F0D-9B80-5660-971A-080CA7ABD841}"/>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29960191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80BB4-095F-E119-F68E-E38AA3AAF662}"/>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8912F005-3376-A94D-F685-FD7FF0A0972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165E13C-D2BF-645D-BAA6-97C8A6914FF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FCD64B8-A7EB-DE71-0314-9493DB4DF1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ECFC0F8-DB38-CCF2-A1A4-B14687F5F43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ECCA2E10-087D-B9B6-952A-F74347020CAD}"/>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8" name="Footer Placeholder 7">
            <a:extLst>
              <a:ext uri="{FF2B5EF4-FFF2-40B4-BE49-F238E27FC236}">
                <a16:creationId xmlns:a16="http://schemas.microsoft.com/office/drawing/2014/main" id="{A6756C93-8D4B-BAB8-EA36-C2F90577CBF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6F979A4-29DE-6944-AE92-1C1D0412F50A}"/>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3027408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05105D-3156-9F2B-7E5D-757D3AE8EE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16B41F9-6D52-8D1F-B914-BE90C5BD081C}"/>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4" name="Footer Placeholder 3">
            <a:extLst>
              <a:ext uri="{FF2B5EF4-FFF2-40B4-BE49-F238E27FC236}">
                <a16:creationId xmlns:a16="http://schemas.microsoft.com/office/drawing/2014/main" id="{67384DC0-4510-76D1-9B6D-6DE8267AC195}"/>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06CD692-500D-4205-490F-71CFB3997638}"/>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40391118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37C495F-3D6B-385C-CF21-57E7B94BCCFD}"/>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3" name="Footer Placeholder 2">
            <a:extLst>
              <a:ext uri="{FF2B5EF4-FFF2-40B4-BE49-F238E27FC236}">
                <a16:creationId xmlns:a16="http://schemas.microsoft.com/office/drawing/2014/main" id="{5D5AA0F9-7E4B-7897-0831-BE970CE104B7}"/>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8085B0-06B8-BD2B-5A8A-E724B0BF8142}"/>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473541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97C73-062D-14D8-5D4F-F0CE502A4F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2CF3884-51FA-127F-217E-9E9F9C28DE1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57426A-5221-25FD-2ACA-B6D961E0715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1EC9EE-B45A-EE0A-85FC-0AC20D02DDCF}"/>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6" name="Footer Placeholder 5">
            <a:extLst>
              <a:ext uri="{FF2B5EF4-FFF2-40B4-BE49-F238E27FC236}">
                <a16:creationId xmlns:a16="http://schemas.microsoft.com/office/drawing/2014/main" id="{708F548C-4EF0-B7A0-1C6F-33C96F9C5B7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D13ABD6-9BCD-C6CC-068F-43EEDE2F9D29}"/>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357182750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AC8C17-F40A-3970-DEA3-4BD9A5EA5F1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A7F3B8A-566A-F1DE-F50F-EF9CF8431F9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7A6888E-582A-AC5D-9076-9CD664ED8B2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3BDE09-256B-2F57-5698-CA4959D3C3FE}"/>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6" name="Footer Placeholder 5">
            <a:extLst>
              <a:ext uri="{FF2B5EF4-FFF2-40B4-BE49-F238E27FC236}">
                <a16:creationId xmlns:a16="http://schemas.microsoft.com/office/drawing/2014/main" id="{47C0CA6B-A37E-9FD7-8054-042116EFF03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709D358-21CF-5628-57B2-387A2BD1A796}"/>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90341653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8663C3-138C-CDBB-89CB-CF872514907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1290868-D6E4-4C2E-29F0-08E241ED445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F32944-F4F0-B005-DB73-76F7D0C70116}"/>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5" name="Footer Placeholder 4">
            <a:extLst>
              <a:ext uri="{FF2B5EF4-FFF2-40B4-BE49-F238E27FC236}">
                <a16:creationId xmlns:a16="http://schemas.microsoft.com/office/drawing/2014/main" id="{2133AD18-84E3-841C-EDBE-8563C1F204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43D25D-1216-6678-B8E7-DDA156789F40}"/>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39731012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457003B-1D9F-1D6A-804C-3E5D3407D54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C59589B-0055-DA72-84DF-F2AE78366F0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561DCB7-CAF3-6000-B96F-7CB401C5FBE6}"/>
              </a:ext>
            </a:extLst>
          </p:cNvPr>
          <p:cNvSpPr>
            <a:spLocks noGrp="1"/>
          </p:cNvSpPr>
          <p:nvPr>
            <p:ph type="dt" sz="half" idx="10"/>
          </p:nvPr>
        </p:nvSpPr>
        <p:spPr/>
        <p:txBody>
          <a:bodyPr/>
          <a:lstStyle/>
          <a:p>
            <a:fld id="{EE9F47A3-7127-430B-99FE-3A5AC2877B8E}" type="datetimeFigureOut">
              <a:rPr lang="en-US" smtClean="0"/>
              <a:t>1/17/2025</a:t>
            </a:fld>
            <a:endParaRPr lang="en-US"/>
          </a:p>
        </p:txBody>
      </p:sp>
      <p:sp>
        <p:nvSpPr>
          <p:cNvPr id="5" name="Footer Placeholder 4">
            <a:extLst>
              <a:ext uri="{FF2B5EF4-FFF2-40B4-BE49-F238E27FC236}">
                <a16:creationId xmlns:a16="http://schemas.microsoft.com/office/drawing/2014/main" id="{C1EE4C4D-BF5E-E525-0936-5AE4BC8A14A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59688C-F9AD-07F3-FB48-5C6195A1AE4C}"/>
              </a:ext>
            </a:extLst>
          </p:cNvPr>
          <p:cNvSpPr>
            <a:spLocks noGrp="1"/>
          </p:cNvSpPr>
          <p:nvPr>
            <p:ph type="sldNum" sz="quarter" idx="12"/>
          </p:nvPr>
        </p:nvSpPr>
        <p:spPr/>
        <p:txBody>
          <a:bodyPr/>
          <a:lstStyle/>
          <a:p>
            <a:fld id="{C7EBBAD7-D827-4165-A0DF-B8FDA7BEDDE0}" type="slidenum">
              <a:rPr lang="en-US" smtClean="0"/>
              <a:t>‹#›</a:t>
            </a:fld>
            <a:endParaRPr lang="en-US"/>
          </a:p>
        </p:txBody>
      </p:sp>
    </p:spTree>
    <p:extLst>
      <p:ext uri="{BB962C8B-B14F-4D97-AF65-F5344CB8AC3E}">
        <p14:creationId xmlns:p14="http://schemas.microsoft.com/office/powerpoint/2010/main" val="15940872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14FE1F1-A644-48F9-BC13-46CB3A8E7B6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E0FCE98-29BB-FD19-CBAE-47ACB9986AD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7D1F84F-4AB0-5D1A-80A5-810A29BECAC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E9F47A3-7127-430B-99FE-3A5AC2877B8E}" type="datetimeFigureOut">
              <a:rPr lang="en-US" smtClean="0"/>
              <a:t>1/17/2025</a:t>
            </a:fld>
            <a:endParaRPr lang="en-US"/>
          </a:p>
        </p:txBody>
      </p:sp>
      <p:sp>
        <p:nvSpPr>
          <p:cNvPr id="5" name="Footer Placeholder 4">
            <a:extLst>
              <a:ext uri="{FF2B5EF4-FFF2-40B4-BE49-F238E27FC236}">
                <a16:creationId xmlns:a16="http://schemas.microsoft.com/office/drawing/2014/main" id="{6A55A85F-6041-927A-F1C7-EA2B67A26A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E757E038-F39A-5AAC-2B0D-12DFA11CF7D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7EBBAD7-D827-4165-A0DF-B8FDA7BEDDE0}" type="slidenum">
              <a:rPr lang="en-US" smtClean="0"/>
              <a:t>‹#›</a:t>
            </a:fld>
            <a:endParaRPr lang="en-US"/>
          </a:p>
        </p:txBody>
      </p:sp>
    </p:spTree>
    <p:extLst>
      <p:ext uri="{BB962C8B-B14F-4D97-AF65-F5344CB8AC3E}">
        <p14:creationId xmlns:p14="http://schemas.microsoft.com/office/powerpoint/2010/main" val="103693305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196AFC-AC9D-11CF-C66D-5A985BECE005}"/>
              </a:ext>
            </a:extLst>
          </p:cNvPr>
          <p:cNvSpPr>
            <a:spLocks noGrp="1"/>
          </p:cNvSpPr>
          <p:nvPr>
            <p:ph type="ctrTitle"/>
          </p:nvPr>
        </p:nvSpPr>
        <p:spPr>
          <a:xfrm>
            <a:off x="366318" y="304436"/>
            <a:ext cx="11520881" cy="2387600"/>
          </a:xfrm>
        </p:spPr>
        <p:txBody>
          <a:bodyPr/>
          <a:lstStyle/>
          <a:p>
            <a:r>
              <a:rPr lang="en-US" dirty="0"/>
              <a:t>Overview of CTD Data from NABOS 2023</a:t>
            </a:r>
          </a:p>
        </p:txBody>
      </p:sp>
      <p:sp>
        <p:nvSpPr>
          <p:cNvPr id="4" name="TextBox 3">
            <a:extLst>
              <a:ext uri="{FF2B5EF4-FFF2-40B4-BE49-F238E27FC236}">
                <a16:creationId xmlns:a16="http://schemas.microsoft.com/office/drawing/2014/main" id="{3A83D556-94BD-98E0-72C7-90F61A284247}"/>
              </a:ext>
            </a:extLst>
          </p:cNvPr>
          <p:cNvSpPr txBox="1"/>
          <p:nvPr/>
        </p:nvSpPr>
        <p:spPr>
          <a:xfrm>
            <a:off x="1526797" y="6128158"/>
            <a:ext cx="9574159" cy="369332"/>
          </a:xfrm>
          <a:prstGeom prst="rect">
            <a:avLst/>
          </a:prstGeom>
          <a:noFill/>
        </p:spPr>
        <p:txBody>
          <a:bodyPr wrap="none" rtlCol="0">
            <a:spAutoFit/>
          </a:bodyPr>
          <a:lstStyle/>
          <a:p>
            <a:r>
              <a:rPr lang="en-US" dirty="0"/>
              <a:t>Unless otherwise noted, the profiles shown use data that are binned to 1 m in post-processing. </a:t>
            </a:r>
          </a:p>
        </p:txBody>
      </p:sp>
    </p:spTree>
    <p:extLst>
      <p:ext uri="{BB962C8B-B14F-4D97-AF65-F5344CB8AC3E}">
        <p14:creationId xmlns:p14="http://schemas.microsoft.com/office/powerpoint/2010/main" val="11542171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D0D18-A5EF-F453-BDBB-FDFA16213B51}"/>
              </a:ext>
            </a:extLst>
          </p:cNvPr>
          <p:cNvSpPr>
            <a:spLocks noGrp="1"/>
          </p:cNvSpPr>
          <p:nvPr>
            <p:ph type="title"/>
          </p:nvPr>
        </p:nvSpPr>
        <p:spPr/>
        <p:txBody>
          <a:bodyPr>
            <a:normAutofit/>
          </a:bodyPr>
          <a:lstStyle/>
          <a:p>
            <a:r>
              <a:rPr lang="en-US" sz="3200" dirty="0"/>
              <a:t>Map overview with station numbers for reference</a:t>
            </a:r>
          </a:p>
        </p:txBody>
      </p:sp>
      <p:pic>
        <p:nvPicPr>
          <p:cNvPr id="5" name="Picture 4">
            <a:extLst>
              <a:ext uri="{FF2B5EF4-FFF2-40B4-BE49-F238E27FC236}">
                <a16:creationId xmlns:a16="http://schemas.microsoft.com/office/drawing/2014/main" id="{30584A2F-10AD-94AF-B11E-FA4A54ADF953}"/>
              </a:ext>
            </a:extLst>
          </p:cNvPr>
          <p:cNvPicPr>
            <a:picLocks noChangeAspect="1"/>
          </p:cNvPicPr>
          <p:nvPr/>
        </p:nvPicPr>
        <p:blipFill>
          <a:blip r:embed="rId2"/>
          <a:stretch>
            <a:fillRect/>
          </a:stretch>
        </p:blipFill>
        <p:spPr>
          <a:xfrm>
            <a:off x="1866456" y="1407927"/>
            <a:ext cx="7806050" cy="5014071"/>
          </a:xfrm>
          <a:prstGeom prst="rect">
            <a:avLst/>
          </a:prstGeom>
        </p:spPr>
      </p:pic>
    </p:spTree>
    <p:extLst>
      <p:ext uri="{BB962C8B-B14F-4D97-AF65-F5344CB8AC3E}">
        <p14:creationId xmlns:p14="http://schemas.microsoft.com/office/powerpoint/2010/main" val="5084231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81B97-E41C-751D-CDA1-E5747EDCF812}"/>
              </a:ext>
            </a:extLst>
          </p:cNvPr>
          <p:cNvSpPr>
            <a:spLocks noGrp="1"/>
          </p:cNvSpPr>
          <p:nvPr>
            <p:ph type="title"/>
          </p:nvPr>
        </p:nvSpPr>
        <p:spPr>
          <a:xfrm>
            <a:off x="838200" y="365125"/>
            <a:ext cx="10515600" cy="498941"/>
          </a:xfrm>
        </p:spPr>
        <p:txBody>
          <a:bodyPr>
            <a:noAutofit/>
          </a:bodyPr>
          <a:lstStyle/>
          <a:p>
            <a:r>
              <a:rPr lang="en-US" sz="2800" dirty="0"/>
              <a:t>First signs of confusion:</a:t>
            </a:r>
          </a:p>
        </p:txBody>
      </p:sp>
      <p:pic>
        <p:nvPicPr>
          <p:cNvPr id="11" name="Picture 10">
            <a:extLst>
              <a:ext uri="{FF2B5EF4-FFF2-40B4-BE49-F238E27FC236}">
                <a16:creationId xmlns:a16="http://schemas.microsoft.com/office/drawing/2014/main" id="{B25C9C8B-D28D-0D39-B870-77E768F8744B}"/>
              </a:ext>
            </a:extLst>
          </p:cNvPr>
          <p:cNvPicPr>
            <a:picLocks noChangeAspect="1"/>
          </p:cNvPicPr>
          <p:nvPr/>
        </p:nvPicPr>
        <p:blipFill>
          <a:blip r:embed="rId2"/>
          <a:stretch>
            <a:fillRect/>
          </a:stretch>
        </p:blipFill>
        <p:spPr>
          <a:xfrm>
            <a:off x="1600163" y="2122393"/>
            <a:ext cx="8916173" cy="4534293"/>
          </a:xfrm>
          <a:prstGeom prst="rect">
            <a:avLst/>
          </a:prstGeom>
        </p:spPr>
      </p:pic>
      <p:sp>
        <p:nvSpPr>
          <p:cNvPr id="12" name="Title 1">
            <a:extLst>
              <a:ext uri="{FF2B5EF4-FFF2-40B4-BE49-F238E27FC236}">
                <a16:creationId xmlns:a16="http://schemas.microsoft.com/office/drawing/2014/main" id="{511F7D80-9E65-6304-D149-AC4B2569C45F}"/>
              </a:ext>
            </a:extLst>
          </p:cNvPr>
          <p:cNvSpPr txBox="1">
            <a:spLocks/>
          </p:cNvSpPr>
          <p:nvPr/>
        </p:nvSpPr>
        <p:spPr>
          <a:xfrm>
            <a:off x="838200" y="1096365"/>
            <a:ext cx="10515600"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Seeing large variability in temperature at depths below 500 m. Consistent in primary and secondary temperature (left and middle plot respectively).  This is just an example profile (Station 27), but the feature shows up in many profiles (see pdf attachment in email for profiles of each station/cast)</a:t>
            </a:r>
          </a:p>
        </p:txBody>
      </p:sp>
      <p:sp>
        <p:nvSpPr>
          <p:cNvPr id="13" name="Rectangle 12">
            <a:extLst>
              <a:ext uri="{FF2B5EF4-FFF2-40B4-BE49-F238E27FC236}">
                <a16:creationId xmlns:a16="http://schemas.microsoft.com/office/drawing/2014/main" id="{EFB5D465-9C89-8565-7BC9-0D841831E8DB}"/>
              </a:ext>
            </a:extLst>
          </p:cNvPr>
          <p:cNvSpPr/>
          <p:nvPr/>
        </p:nvSpPr>
        <p:spPr>
          <a:xfrm>
            <a:off x="2065866" y="4241800"/>
            <a:ext cx="8248953" cy="1834847"/>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16051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6B5603-6401-3625-5621-40600C04D0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1AB974A-EB18-2ACD-9115-6AAB0772F32E}"/>
              </a:ext>
            </a:extLst>
          </p:cNvPr>
          <p:cNvSpPr>
            <a:spLocks noGrp="1"/>
          </p:cNvSpPr>
          <p:nvPr>
            <p:ph type="title"/>
          </p:nvPr>
        </p:nvSpPr>
        <p:spPr>
          <a:xfrm>
            <a:off x="838200" y="365125"/>
            <a:ext cx="10515600" cy="498941"/>
          </a:xfrm>
        </p:spPr>
        <p:txBody>
          <a:bodyPr>
            <a:noAutofit/>
          </a:bodyPr>
          <a:lstStyle/>
          <a:p>
            <a:r>
              <a:rPr lang="en-US" sz="2800" dirty="0"/>
              <a:t>First signs of confusion:</a:t>
            </a:r>
          </a:p>
        </p:txBody>
      </p:sp>
      <p:sp>
        <p:nvSpPr>
          <p:cNvPr id="12" name="Title 1">
            <a:extLst>
              <a:ext uri="{FF2B5EF4-FFF2-40B4-BE49-F238E27FC236}">
                <a16:creationId xmlns:a16="http://schemas.microsoft.com/office/drawing/2014/main" id="{34F51DC9-4383-FA49-7D1A-9E678C4E0D38}"/>
              </a:ext>
            </a:extLst>
          </p:cNvPr>
          <p:cNvSpPr txBox="1">
            <a:spLocks/>
          </p:cNvSpPr>
          <p:nvPr/>
        </p:nvSpPr>
        <p:spPr>
          <a:xfrm>
            <a:off x="838200" y="1096365"/>
            <a:ext cx="10515600"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Plotting other CTD and CTD-derived parameters as validation, Station No. 27. In-situ density shows some inversions at each of these “steps” in the Temperature and CTD data. Next couple slides are other example stations </a:t>
            </a:r>
          </a:p>
        </p:txBody>
      </p:sp>
      <p:pic>
        <p:nvPicPr>
          <p:cNvPr id="8" name="Picture 7">
            <a:extLst>
              <a:ext uri="{FF2B5EF4-FFF2-40B4-BE49-F238E27FC236}">
                <a16:creationId xmlns:a16="http://schemas.microsoft.com/office/drawing/2014/main" id="{3D2D3315-3EED-BFF6-2214-CB37A599D034}"/>
              </a:ext>
            </a:extLst>
          </p:cNvPr>
          <p:cNvPicPr>
            <a:picLocks noChangeAspect="1"/>
          </p:cNvPicPr>
          <p:nvPr/>
        </p:nvPicPr>
        <p:blipFill>
          <a:blip r:embed="rId2"/>
          <a:stretch>
            <a:fillRect/>
          </a:stretch>
        </p:blipFill>
        <p:spPr>
          <a:xfrm>
            <a:off x="8048519" y="1707160"/>
            <a:ext cx="3905588" cy="4534293"/>
          </a:xfrm>
          <a:prstGeom prst="rect">
            <a:avLst/>
          </a:prstGeom>
        </p:spPr>
      </p:pic>
      <p:sp>
        <p:nvSpPr>
          <p:cNvPr id="9" name="TextBox 8">
            <a:extLst>
              <a:ext uri="{FF2B5EF4-FFF2-40B4-BE49-F238E27FC236}">
                <a16:creationId xmlns:a16="http://schemas.microsoft.com/office/drawing/2014/main" id="{1661F3F2-D111-E962-29DD-5BA1E9811A4D}"/>
              </a:ext>
            </a:extLst>
          </p:cNvPr>
          <p:cNvSpPr txBox="1"/>
          <p:nvPr/>
        </p:nvSpPr>
        <p:spPr>
          <a:xfrm>
            <a:off x="8779079" y="4920143"/>
            <a:ext cx="2728632" cy="369332"/>
          </a:xfrm>
          <a:prstGeom prst="rect">
            <a:avLst/>
          </a:prstGeom>
          <a:noFill/>
        </p:spPr>
        <p:txBody>
          <a:bodyPr wrap="none" rtlCol="0">
            <a:spAutoFit/>
          </a:bodyPr>
          <a:lstStyle/>
          <a:p>
            <a:r>
              <a:rPr lang="en-US" dirty="0"/>
              <a:t>Zoom in on in-situ density</a:t>
            </a:r>
          </a:p>
        </p:txBody>
      </p:sp>
      <p:pic>
        <p:nvPicPr>
          <p:cNvPr id="13" name="Picture 12">
            <a:extLst>
              <a:ext uri="{FF2B5EF4-FFF2-40B4-BE49-F238E27FC236}">
                <a16:creationId xmlns:a16="http://schemas.microsoft.com/office/drawing/2014/main" id="{37EEF98F-9B09-954F-2525-A9976A532E83}"/>
              </a:ext>
            </a:extLst>
          </p:cNvPr>
          <p:cNvPicPr>
            <a:picLocks noChangeAspect="1"/>
          </p:cNvPicPr>
          <p:nvPr/>
        </p:nvPicPr>
        <p:blipFill>
          <a:blip r:embed="rId3"/>
          <a:stretch>
            <a:fillRect/>
          </a:stretch>
        </p:blipFill>
        <p:spPr>
          <a:xfrm>
            <a:off x="433936" y="2041915"/>
            <a:ext cx="7351047" cy="3873310"/>
          </a:xfrm>
          <a:prstGeom prst="rect">
            <a:avLst/>
          </a:prstGeom>
        </p:spPr>
      </p:pic>
    </p:spTree>
    <p:extLst>
      <p:ext uri="{BB962C8B-B14F-4D97-AF65-F5344CB8AC3E}">
        <p14:creationId xmlns:p14="http://schemas.microsoft.com/office/powerpoint/2010/main" val="16596052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A1ECB3-275F-252E-D8F4-43B0E6B30E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332514-6922-9D30-9CC3-98C7F0B6096C}"/>
              </a:ext>
            </a:extLst>
          </p:cNvPr>
          <p:cNvSpPr>
            <a:spLocks noGrp="1"/>
          </p:cNvSpPr>
          <p:nvPr>
            <p:ph type="title"/>
          </p:nvPr>
        </p:nvSpPr>
        <p:spPr>
          <a:xfrm>
            <a:off x="838200" y="365125"/>
            <a:ext cx="10515600" cy="498941"/>
          </a:xfrm>
        </p:spPr>
        <p:txBody>
          <a:bodyPr>
            <a:noAutofit/>
          </a:bodyPr>
          <a:lstStyle/>
          <a:p>
            <a:r>
              <a:rPr lang="en-US" sz="2800" dirty="0"/>
              <a:t>Example Station 21</a:t>
            </a:r>
          </a:p>
        </p:txBody>
      </p:sp>
      <p:pic>
        <p:nvPicPr>
          <p:cNvPr id="5" name="Picture 4">
            <a:extLst>
              <a:ext uri="{FF2B5EF4-FFF2-40B4-BE49-F238E27FC236}">
                <a16:creationId xmlns:a16="http://schemas.microsoft.com/office/drawing/2014/main" id="{A03DF288-E3A4-C92B-8079-EAFC5F8A1997}"/>
              </a:ext>
            </a:extLst>
          </p:cNvPr>
          <p:cNvPicPr>
            <a:picLocks noChangeAspect="1"/>
          </p:cNvPicPr>
          <p:nvPr/>
        </p:nvPicPr>
        <p:blipFill>
          <a:blip r:embed="rId2"/>
          <a:stretch>
            <a:fillRect/>
          </a:stretch>
        </p:blipFill>
        <p:spPr>
          <a:xfrm>
            <a:off x="7890811" y="2141478"/>
            <a:ext cx="3943692" cy="4351397"/>
          </a:xfrm>
          <a:prstGeom prst="rect">
            <a:avLst/>
          </a:prstGeom>
        </p:spPr>
      </p:pic>
      <p:pic>
        <p:nvPicPr>
          <p:cNvPr id="15" name="Picture 14">
            <a:extLst>
              <a:ext uri="{FF2B5EF4-FFF2-40B4-BE49-F238E27FC236}">
                <a16:creationId xmlns:a16="http://schemas.microsoft.com/office/drawing/2014/main" id="{B3C22CE2-8C11-8601-1213-2E47502B4040}"/>
              </a:ext>
            </a:extLst>
          </p:cNvPr>
          <p:cNvPicPr>
            <a:picLocks noChangeAspect="1"/>
          </p:cNvPicPr>
          <p:nvPr/>
        </p:nvPicPr>
        <p:blipFill>
          <a:blip r:embed="rId3"/>
          <a:stretch>
            <a:fillRect/>
          </a:stretch>
        </p:blipFill>
        <p:spPr>
          <a:xfrm>
            <a:off x="263531" y="2420224"/>
            <a:ext cx="7480355" cy="3879193"/>
          </a:xfrm>
          <a:prstGeom prst="rect">
            <a:avLst/>
          </a:prstGeom>
        </p:spPr>
      </p:pic>
      <p:sp>
        <p:nvSpPr>
          <p:cNvPr id="16" name="Rectangle 15">
            <a:extLst>
              <a:ext uri="{FF2B5EF4-FFF2-40B4-BE49-F238E27FC236}">
                <a16:creationId xmlns:a16="http://schemas.microsoft.com/office/drawing/2014/main" id="{717E3965-EE62-7670-324A-C192208464A4}"/>
              </a:ext>
            </a:extLst>
          </p:cNvPr>
          <p:cNvSpPr/>
          <p:nvPr/>
        </p:nvSpPr>
        <p:spPr>
          <a:xfrm>
            <a:off x="662729" y="3429001"/>
            <a:ext cx="11010551" cy="807440"/>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71993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BAAF9D-95A7-DABD-EC82-F7E9B92A03D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FE105F-19E3-FECE-2AD9-A29B704EE38E}"/>
              </a:ext>
            </a:extLst>
          </p:cNvPr>
          <p:cNvSpPr>
            <a:spLocks noGrp="1"/>
          </p:cNvSpPr>
          <p:nvPr>
            <p:ph type="title"/>
          </p:nvPr>
        </p:nvSpPr>
        <p:spPr>
          <a:xfrm>
            <a:off x="838200" y="365125"/>
            <a:ext cx="10515600" cy="498941"/>
          </a:xfrm>
        </p:spPr>
        <p:txBody>
          <a:bodyPr>
            <a:noAutofit/>
          </a:bodyPr>
          <a:lstStyle/>
          <a:p>
            <a:r>
              <a:rPr lang="en-US" sz="2800" dirty="0"/>
              <a:t>Example Station 38 (~10 nm from M1)</a:t>
            </a:r>
          </a:p>
        </p:txBody>
      </p:sp>
      <p:pic>
        <p:nvPicPr>
          <p:cNvPr id="4" name="Picture 3">
            <a:extLst>
              <a:ext uri="{FF2B5EF4-FFF2-40B4-BE49-F238E27FC236}">
                <a16:creationId xmlns:a16="http://schemas.microsoft.com/office/drawing/2014/main" id="{DE658A8E-9173-2A39-C530-DDA0E4363F8C}"/>
              </a:ext>
            </a:extLst>
          </p:cNvPr>
          <p:cNvPicPr>
            <a:picLocks noChangeAspect="1"/>
          </p:cNvPicPr>
          <p:nvPr/>
        </p:nvPicPr>
        <p:blipFill>
          <a:blip r:embed="rId2"/>
          <a:stretch>
            <a:fillRect/>
          </a:stretch>
        </p:blipFill>
        <p:spPr>
          <a:xfrm>
            <a:off x="7969370" y="2145992"/>
            <a:ext cx="3962743" cy="4419983"/>
          </a:xfrm>
          <a:prstGeom prst="rect">
            <a:avLst/>
          </a:prstGeom>
        </p:spPr>
      </p:pic>
      <p:pic>
        <p:nvPicPr>
          <p:cNvPr id="9" name="Picture 8">
            <a:extLst>
              <a:ext uri="{FF2B5EF4-FFF2-40B4-BE49-F238E27FC236}">
                <a16:creationId xmlns:a16="http://schemas.microsoft.com/office/drawing/2014/main" id="{314AB481-34EE-1545-8062-76A6BD3DEB9D}"/>
              </a:ext>
            </a:extLst>
          </p:cNvPr>
          <p:cNvPicPr>
            <a:picLocks noChangeAspect="1"/>
          </p:cNvPicPr>
          <p:nvPr/>
        </p:nvPicPr>
        <p:blipFill>
          <a:blip r:embed="rId3"/>
          <a:stretch>
            <a:fillRect/>
          </a:stretch>
        </p:blipFill>
        <p:spPr>
          <a:xfrm>
            <a:off x="259887" y="2290225"/>
            <a:ext cx="7453324" cy="3952774"/>
          </a:xfrm>
          <a:prstGeom prst="rect">
            <a:avLst/>
          </a:prstGeom>
        </p:spPr>
      </p:pic>
      <p:sp>
        <p:nvSpPr>
          <p:cNvPr id="10" name="Rectangle 9">
            <a:extLst>
              <a:ext uri="{FF2B5EF4-FFF2-40B4-BE49-F238E27FC236}">
                <a16:creationId xmlns:a16="http://schemas.microsoft.com/office/drawing/2014/main" id="{E420D066-C01A-8CA2-83EC-A6E72448F423}"/>
              </a:ext>
            </a:extLst>
          </p:cNvPr>
          <p:cNvSpPr/>
          <p:nvPr/>
        </p:nvSpPr>
        <p:spPr>
          <a:xfrm>
            <a:off x="667567" y="3162906"/>
            <a:ext cx="11074490" cy="807440"/>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304846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0B0B9-65DE-1435-DB5E-3AA667D18C87}"/>
              </a:ext>
            </a:extLst>
          </p:cNvPr>
          <p:cNvSpPr>
            <a:spLocks noGrp="1"/>
          </p:cNvSpPr>
          <p:nvPr>
            <p:ph type="title"/>
          </p:nvPr>
        </p:nvSpPr>
        <p:spPr>
          <a:xfrm>
            <a:off x="838200" y="365125"/>
            <a:ext cx="10515600" cy="620581"/>
          </a:xfrm>
        </p:spPr>
        <p:txBody>
          <a:bodyPr>
            <a:normAutofit/>
          </a:bodyPr>
          <a:lstStyle/>
          <a:p>
            <a:r>
              <a:rPr lang="en-US" sz="2800" dirty="0"/>
              <a:t>Let’s look at TS plots &amp; sigma theta space… </a:t>
            </a:r>
          </a:p>
        </p:txBody>
      </p:sp>
      <p:sp>
        <p:nvSpPr>
          <p:cNvPr id="9" name="Title 1">
            <a:extLst>
              <a:ext uri="{FF2B5EF4-FFF2-40B4-BE49-F238E27FC236}">
                <a16:creationId xmlns:a16="http://schemas.microsoft.com/office/drawing/2014/main" id="{3E018A6B-A3D0-CA73-5E05-F305FAB41F37}"/>
              </a:ext>
            </a:extLst>
          </p:cNvPr>
          <p:cNvSpPr txBox="1">
            <a:spLocks/>
          </p:cNvSpPr>
          <p:nvPr/>
        </p:nvSpPr>
        <p:spPr>
          <a:xfrm>
            <a:off x="994794" y="1707160"/>
            <a:ext cx="3573012"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Full profile</a:t>
            </a:r>
          </a:p>
        </p:txBody>
      </p:sp>
      <p:sp>
        <p:nvSpPr>
          <p:cNvPr id="12" name="Title 1">
            <a:extLst>
              <a:ext uri="{FF2B5EF4-FFF2-40B4-BE49-F238E27FC236}">
                <a16:creationId xmlns:a16="http://schemas.microsoft.com/office/drawing/2014/main" id="{9DE73AAC-3377-3B48-F0A2-0B78DACC0D04}"/>
              </a:ext>
            </a:extLst>
          </p:cNvPr>
          <p:cNvSpPr txBox="1">
            <a:spLocks/>
          </p:cNvSpPr>
          <p:nvPr/>
        </p:nvSpPr>
        <p:spPr>
          <a:xfrm>
            <a:off x="5503178" y="1707160"/>
            <a:ext cx="3625593"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600 -1000 m depth </a:t>
            </a:r>
          </a:p>
        </p:txBody>
      </p:sp>
      <p:pic>
        <p:nvPicPr>
          <p:cNvPr id="21" name="Picture 20">
            <a:extLst>
              <a:ext uri="{FF2B5EF4-FFF2-40B4-BE49-F238E27FC236}">
                <a16:creationId xmlns:a16="http://schemas.microsoft.com/office/drawing/2014/main" id="{E03D8391-CF07-41B1-260E-8A707D757837}"/>
              </a:ext>
            </a:extLst>
          </p:cNvPr>
          <p:cNvPicPr>
            <a:picLocks noChangeAspect="1"/>
          </p:cNvPicPr>
          <p:nvPr/>
        </p:nvPicPr>
        <p:blipFill>
          <a:blip r:embed="rId2"/>
          <a:stretch>
            <a:fillRect/>
          </a:stretch>
        </p:blipFill>
        <p:spPr>
          <a:xfrm>
            <a:off x="521514" y="2317955"/>
            <a:ext cx="4077053" cy="4134208"/>
          </a:xfrm>
          <a:prstGeom prst="rect">
            <a:avLst/>
          </a:prstGeom>
        </p:spPr>
      </p:pic>
      <p:pic>
        <p:nvPicPr>
          <p:cNvPr id="23" name="Picture 22">
            <a:extLst>
              <a:ext uri="{FF2B5EF4-FFF2-40B4-BE49-F238E27FC236}">
                <a16:creationId xmlns:a16="http://schemas.microsoft.com/office/drawing/2014/main" id="{CF702E93-D0EC-1821-9BA7-B92E11D94D07}"/>
              </a:ext>
            </a:extLst>
          </p:cNvPr>
          <p:cNvPicPr>
            <a:picLocks noChangeAspect="1"/>
          </p:cNvPicPr>
          <p:nvPr/>
        </p:nvPicPr>
        <p:blipFill>
          <a:blip r:embed="rId3"/>
          <a:stretch>
            <a:fillRect/>
          </a:stretch>
        </p:blipFill>
        <p:spPr>
          <a:xfrm>
            <a:off x="4567806" y="2132977"/>
            <a:ext cx="4077053" cy="4286621"/>
          </a:xfrm>
          <a:prstGeom prst="rect">
            <a:avLst/>
          </a:prstGeom>
        </p:spPr>
      </p:pic>
      <p:pic>
        <p:nvPicPr>
          <p:cNvPr id="25" name="Picture 24">
            <a:extLst>
              <a:ext uri="{FF2B5EF4-FFF2-40B4-BE49-F238E27FC236}">
                <a16:creationId xmlns:a16="http://schemas.microsoft.com/office/drawing/2014/main" id="{EE165B00-C52C-204D-25FB-5638D826B939}"/>
              </a:ext>
            </a:extLst>
          </p:cNvPr>
          <p:cNvPicPr>
            <a:picLocks noChangeAspect="1"/>
          </p:cNvPicPr>
          <p:nvPr/>
        </p:nvPicPr>
        <p:blipFill>
          <a:blip r:embed="rId4"/>
          <a:stretch>
            <a:fillRect/>
          </a:stretch>
        </p:blipFill>
        <p:spPr>
          <a:xfrm>
            <a:off x="7352951" y="303982"/>
            <a:ext cx="3928218" cy="1937204"/>
          </a:xfrm>
          <a:prstGeom prst="rect">
            <a:avLst/>
          </a:prstGeom>
        </p:spPr>
      </p:pic>
      <p:sp>
        <p:nvSpPr>
          <p:cNvPr id="26" name="Title 1">
            <a:extLst>
              <a:ext uri="{FF2B5EF4-FFF2-40B4-BE49-F238E27FC236}">
                <a16:creationId xmlns:a16="http://schemas.microsoft.com/office/drawing/2014/main" id="{432F2FCC-7B8D-9428-B970-864301213753}"/>
              </a:ext>
            </a:extLst>
          </p:cNvPr>
          <p:cNvSpPr txBox="1">
            <a:spLocks/>
          </p:cNvSpPr>
          <p:nvPr/>
        </p:nvSpPr>
        <p:spPr>
          <a:xfrm rot="16200000">
            <a:off x="10513751" y="910668"/>
            <a:ext cx="1977705"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Woodgate et al., 2025</a:t>
            </a:r>
          </a:p>
        </p:txBody>
      </p:sp>
      <p:sp>
        <p:nvSpPr>
          <p:cNvPr id="28" name="Title 1">
            <a:extLst>
              <a:ext uri="{FF2B5EF4-FFF2-40B4-BE49-F238E27FC236}">
                <a16:creationId xmlns:a16="http://schemas.microsoft.com/office/drawing/2014/main" id="{59230834-87CD-1C5F-D779-83D663EE98E9}"/>
              </a:ext>
            </a:extLst>
          </p:cNvPr>
          <p:cNvSpPr txBox="1">
            <a:spLocks/>
          </p:cNvSpPr>
          <p:nvPr/>
        </p:nvSpPr>
        <p:spPr>
          <a:xfrm>
            <a:off x="838200" y="1096365"/>
            <a:ext cx="10515600"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T-S plots have “zig-zags” where this feature is. Looks similar to Woodgate et al. 2025. </a:t>
            </a:r>
            <a:br>
              <a:rPr lang="en-US" sz="1400" dirty="0"/>
            </a:br>
            <a:r>
              <a:rPr lang="en-US" sz="1400" dirty="0"/>
              <a:t>A bit odd that so many of the “steps” are </a:t>
            </a:r>
            <a:r>
              <a:rPr lang="en-US" sz="1400" dirty="0" err="1"/>
              <a:t>isopycnal</a:t>
            </a:r>
            <a:r>
              <a:rPr lang="en-US" sz="1400" dirty="0"/>
              <a:t>. Station 21. </a:t>
            </a:r>
          </a:p>
        </p:txBody>
      </p:sp>
      <p:sp>
        <p:nvSpPr>
          <p:cNvPr id="30" name="Oval 29">
            <a:extLst>
              <a:ext uri="{FF2B5EF4-FFF2-40B4-BE49-F238E27FC236}">
                <a16:creationId xmlns:a16="http://schemas.microsoft.com/office/drawing/2014/main" id="{A81B230F-3A48-04C7-620E-E736E6E4AB4D}"/>
              </a:ext>
            </a:extLst>
          </p:cNvPr>
          <p:cNvSpPr/>
          <p:nvPr/>
        </p:nvSpPr>
        <p:spPr>
          <a:xfrm>
            <a:off x="3517295" y="3759200"/>
            <a:ext cx="396724" cy="512838"/>
          </a:xfrm>
          <a:prstGeom prst="ellipse">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18567479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E00A4-B0F4-712E-609A-8B1B0391FC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3F64AB-86B0-3566-AF64-90B4C282170A}"/>
              </a:ext>
            </a:extLst>
          </p:cNvPr>
          <p:cNvSpPr>
            <a:spLocks noGrp="1"/>
          </p:cNvSpPr>
          <p:nvPr>
            <p:ph type="title"/>
          </p:nvPr>
        </p:nvSpPr>
        <p:spPr>
          <a:xfrm>
            <a:off x="838200" y="365125"/>
            <a:ext cx="10515600" cy="620581"/>
          </a:xfrm>
        </p:spPr>
        <p:txBody>
          <a:bodyPr>
            <a:normAutofit/>
          </a:bodyPr>
          <a:lstStyle/>
          <a:p>
            <a:r>
              <a:rPr lang="en-US" sz="2800" dirty="0"/>
              <a:t>Let’s look at TS plots &amp; sigma theta space… </a:t>
            </a:r>
          </a:p>
        </p:txBody>
      </p:sp>
      <p:sp>
        <p:nvSpPr>
          <p:cNvPr id="6" name="Title 1">
            <a:extLst>
              <a:ext uri="{FF2B5EF4-FFF2-40B4-BE49-F238E27FC236}">
                <a16:creationId xmlns:a16="http://schemas.microsoft.com/office/drawing/2014/main" id="{068AAB09-33FB-3C67-082F-F185EB7AA4AE}"/>
              </a:ext>
            </a:extLst>
          </p:cNvPr>
          <p:cNvSpPr txBox="1">
            <a:spLocks/>
          </p:cNvSpPr>
          <p:nvPr/>
        </p:nvSpPr>
        <p:spPr>
          <a:xfrm>
            <a:off x="838200" y="1096365"/>
            <a:ext cx="10515600"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More on sigma-theta, shows that some of these steps are predominantly along </a:t>
            </a:r>
            <a:r>
              <a:rPr lang="en-US" sz="1400" dirty="0" err="1"/>
              <a:t>isopycnals</a:t>
            </a:r>
            <a:r>
              <a:rPr lang="en-US" sz="1400" dirty="0"/>
              <a:t>. Station 21. </a:t>
            </a:r>
          </a:p>
        </p:txBody>
      </p:sp>
      <p:sp>
        <p:nvSpPr>
          <p:cNvPr id="9" name="Title 1">
            <a:extLst>
              <a:ext uri="{FF2B5EF4-FFF2-40B4-BE49-F238E27FC236}">
                <a16:creationId xmlns:a16="http://schemas.microsoft.com/office/drawing/2014/main" id="{F0D4659E-60CA-728A-24B9-7BC28B21432E}"/>
              </a:ext>
            </a:extLst>
          </p:cNvPr>
          <p:cNvSpPr txBox="1">
            <a:spLocks/>
          </p:cNvSpPr>
          <p:nvPr/>
        </p:nvSpPr>
        <p:spPr>
          <a:xfrm>
            <a:off x="994794" y="1707160"/>
            <a:ext cx="3573012"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Full profile</a:t>
            </a:r>
          </a:p>
        </p:txBody>
      </p:sp>
      <p:sp>
        <p:nvSpPr>
          <p:cNvPr id="12" name="Title 1">
            <a:extLst>
              <a:ext uri="{FF2B5EF4-FFF2-40B4-BE49-F238E27FC236}">
                <a16:creationId xmlns:a16="http://schemas.microsoft.com/office/drawing/2014/main" id="{70514C52-E572-A9C0-4BF3-02B0EF0243DC}"/>
              </a:ext>
            </a:extLst>
          </p:cNvPr>
          <p:cNvSpPr txBox="1">
            <a:spLocks/>
          </p:cNvSpPr>
          <p:nvPr/>
        </p:nvSpPr>
        <p:spPr>
          <a:xfrm>
            <a:off x="5503178" y="1707160"/>
            <a:ext cx="3625593"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600 -1000 m depth </a:t>
            </a:r>
          </a:p>
        </p:txBody>
      </p:sp>
      <p:pic>
        <p:nvPicPr>
          <p:cNvPr id="4" name="Picture 3">
            <a:extLst>
              <a:ext uri="{FF2B5EF4-FFF2-40B4-BE49-F238E27FC236}">
                <a16:creationId xmlns:a16="http://schemas.microsoft.com/office/drawing/2014/main" id="{1E8F1C9D-E18A-B644-EC45-F4784947FA92}"/>
              </a:ext>
            </a:extLst>
          </p:cNvPr>
          <p:cNvPicPr>
            <a:picLocks noChangeAspect="1"/>
          </p:cNvPicPr>
          <p:nvPr/>
        </p:nvPicPr>
        <p:blipFill>
          <a:blip r:embed="rId2"/>
          <a:stretch>
            <a:fillRect/>
          </a:stretch>
        </p:blipFill>
        <p:spPr>
          <a:xfrm>
            <a:off x="428051" y="2224394"/>
            <a:ext cx="3970364" cy="4038950"/>
          </a:xfrm>
          <a:prstGeom prst="rect">
            <a:avLst/>
          </a:prstGeom>
        </p:spPr>
      </p:pic>
      <p:pic>
        <p:nvPicPr>
          <p:cNvPr id="7" name="Picture 6">
            <a:extLst>
              <a:ext uri="{FF2B5EF4-FFF2-40B4-BE49-F238E27FC236}">
                <a16:creationId xmlns:a16="http://schemas.microsoft.com/office/drawing/2014/main" id="{7FDEEE21-E8ED-D579-7AC5-4CDA71200B42}"/>
              </a:ext>
            </a:extLst>
          </p:cNvPr>
          <p:cNvPicPr>
            <a:picLocks noChangeAspect="1"/>
          </p:cNvPicPr>
          <p:nvPr/>
        </p:nvPicPr>
        <p:blipFill>
          <a:blip r:embed="rId3"/>
          <a:stretch>
            <a:fillRect/>
          </a:stretch>
        </p:blipFill>
        <p:spPr>
          <a:xfrm>
            <a:off x="4442535" y="2186643"/>
            <a:ext cx="3894157" cy="4019898"/>
          </a:xfrm>
          <a:prstGeom prst="rect">
            <a:avLst/>
          </a:prstGeom>
        </p:spPr>
      </p:pic>
      <p:sp>
        <p:nvSpPr>
          <p:cNvPr id="8" name="Rectangle 7">
            <a:extLst>
              <a:ext uri="{FF2B5EF4-FFF2-40B4-BE49-F238E27FC236}">
                <a16:creationId xmlns:a16="http://schemas.microsoft.com/office/drawing/2014/main" id="{69B6E38E-DAA3-42F3-8416-76FE83CEBF95}"/>
              </a:ext>
            </a:extLst>
          </p:cNvPr>
          <p:cNvSpPr/>
          <p:nvPr/>
        </p:nvSpPr>
        <p:spPr>
          <a:xfrm>
            <a:off x="1107835" y="3025280"/>
            <a:ext cx="3077118" cy="807440"/>
          </a:xfrm>
          <a:prstGeom prst="rect">
            <a:avLst/>
          </a:prstGeom>
          <a:solidFill>
            <a:schemeClr val="bg1">
              <a:lumMod val="85000"/>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482996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04C5AA-2098-0D2F-0D7D-BA384ECF32D1}"/>
              </a:ext>
            </a:extLst>
          </p:cNvPr>
          <p:cNvSpPr>
            <a:spLocks noGrp="1"/>
          </p:cNvSpPr>
          <p:nvPr>
            <p:ph type="title"/>
          </p:nvPr>
        </p:nvSpPr>
        <p:spPr>
          <a:xfrm>
            <a:off x="838200" y="365125"/>
            <a:ext cx="10515600" cy="587025"/>
          </a:xfrm>
        </p:spPr>
        <p:txBody>
          <a:bodyPr>
            <a:normAutofit fontScale="90000"/>
          </a:bodyPr>
          <a:lstStyle/>
          <a:p>
            <a:r>
              <a:rPr lang="en-US" dirty="0"/>
              <a:t>Where is this happening geographically?</a:t>
            </a:r>
          </a:p>
        </p:txBody>
      </p:sp>
      <p:grpSp>
        <p:nvGrpSpPr>
          <p:cNvPr id="3" name="Group 2">
            <a:extLst>
              <a:ext uri="{FF2B5EF4-FFF2-40B4-BE49-F238E27FC236}">
                <a16:creationId xmlns:a16="http://schemas.microsoft.com/office/drawing/2014/main" id="{59046031-C045-8E15-3060-13362F75E0FF}"/>
              </a:ext>
            </a:extLst>
          </p:cNvPr>
          <p:cNvGrpSpPr/>
          <p:nvPr/>
        </p:nvGrpSpPr>
        <p:grpSpPr>
          <a:xfrm>
            <a:off x="257214" y="2722230"/>
            <a:ext cx="11483772" cy="3934668"/>
            <a:chOff x="257214" y="2722230"/>
            <a:chExt cx="11483772" cy="3934668"/>
          </a:xfrm>
        </p:grpSpPr>
        <p:pic>
          <p:nvPicPr>
            <p:cNvPr id="6" name="Picture 5">
              <a:extLst>
                <a:ext uri="{FF2B5EF4-FFF2-40B4-BE49-F238E27FC236}">
                  <a16:creationId xmlns:a16="http://schemas.microsoft.com/office/drawing/2014/main" id="{CCD645B1-C3E1-1B37-81E7-3564E4030218}"/>
                </a:ext>
              </a:extLst>
            </p:cNvPr>
            <p:cNvPicPr>
              <a:picLocks noChangeAspect="1"/>
            </p:cNvPicPr>
            <p:nvPr/>
          </p:nvPicPr>
          <p:blipFill>
            <a:blip r:embed="rId2"/>
            <a:stretch>
              <a:fillRect/>
            </a:stretch>
          </p:blipFill>
          <p:spPr>
            <a:xfrm>
              <a:off x="257214" y="3319368"/>
              <a:ext cx="2766681" cy="3068162"/>
            </a:xfrm>
            <a:prstGeom prst="rect">
              <a:avLst/>
            </a:prstGeom>
          </p:spPr>
        </p:pic>
        <p:sp>
          <p:nvSpPr>
            <p:cNvPr id="7" name="TextBox 6">
              <a:extLst>
                <a:ext uri="{FF2B5EF4-FFF2-40B4-BE49-F238E27FC236}">
                  <a16:creationId xmlns:a16="http://schemas.microsoft.com/office/drawing/2014/main" id="{FD9304E8-FB10-19F6-14ED-0A974D660645}"/>
                </a:ext>
              </a:extLst>
            </p:cNvPr>
            <p:cNvSpPr txBox="1"/>
            <p:nvPr/>
          </p:nvSpPr>
          <p:spPr>
            <a:xfrm>
              <a:off x="681124" y="2722230"/>
              <a:ext cx="1918859" cy="461665"/>
            </a:xfrm>
            <a:prstGeom prst="rect">
              <a:avLst/>
            </a:prstGeom>
            <a:noFill/>
          </p:spPr>
          <p:txBody>
            <a:bodyPr wrap="none" rtlCol="0">
              <a:spAutoFit/>
            </a:bodyPr>
            <a:lstStyle/>
            <a:p>
              <a:pPr algn="ctr"/>
              <a:r>
                <a:rPr lang="en-US" sz="1200" dirty="0"/>
                <a:t>East Siberian Sea transect</a:t>
              </a:r>
              <a:br>
                <a:rPr lang="en-US" sz="1200" dirty="0"/>
              </a:br>
              <a:r>
                <a:rPr lang="en-US" sz="1200" dirty="0"/>
                <a:t> (400 – 1200 m)</a:t>
              </a:r>
            </a:p>
          </p:txBody>
        </p:sp>
        <p:pic>
          <p:nvPicPr>
            <p:cNvPr id="9" name="Picture 8">
              <a:extLst>
                <a:ext uri="{FF2B5EF4-FFF2-40B4-BE49-F238E27FC236}">
                  <a16:creationId xmlns:a16="http://schemas.microsoft.com/office/drawing/2014/main" id="{19FEF322-046D-224D-133B-2E5A5978B427}"/>
                </a:ext>
              </a:extLst>
            </p:cNvPr>
            <p:cNvPicPr>
              <a:picLocks noChangeAspect="1"/>
            </p:cNvPicPr>
            <p:nvPr/>
          </p:nvPicPr>
          <p:blipFill>
            <a:blip r:embed="rId3"/>
            <a:srcRect l="7846"/>
            <a:stretch/>
          </p:blipFill>
          <p:spPr>
            <a:xfrm>
              <a:off x="2970979" y="3330429"/>
              <a:ext cx="5716381" cy="3073497"/>
            </a:xfrm>
            <a:prstGeom prst="rect">
              <a:avLst/>
            </a:prstGeom>
          </p:spPr>
        </p:pic>
        <p:pic>
          <p:nvPicPr>
            <p:cNvPr id="11" name="Picture 10">
              <a:extLst>
                <a:ext uri="{FF2B5EF4-FFF2-40B4-BE49-F238E27FC236}">
                  <a16:creationId xmlns:a16="http://schemas.microsoft.com/office/drawing/2014/main" id="{A8EE6105-84CF-5B3A-E578-EDEC0E04D8C7}"/>
                </a:ext>
              </a:extLst>
            </p:cNvPr>
            <p:cNvPicPr>
              <a:picLocks noChangeAspect="1"/>
            </p:cNvPicPr>
            <p:nvPr/>
          </p:nvPicPr>
          <p:blipFill>
            <a:blip r:embed="rId4"/>
            <a:srcRect l="5891"/>
            <a:stretch/>
          </p:blipFill>
          <p:spPr>
            <a:xfrm>
              <a:off x="8485464" y="3285058"/>
              <a:ext cx="3050616" cy="3094841"/>
            </a:xfrm>
            <a:prstGeom prst="rect">
              <a:avLst/>
            </a:prstGeom>
          </p:spPr>
        </p:pic>
        <p:sp>
          <p:nvSpPr>
            <p:cNvPr id="12" name="TextBox 11">
              <a:extLst>
                <a:ext uri="{FF2B5EF4-FFF2-40B4-BE49-F238E27FC236}">
                  <a16:creationId xmlns:a16="http://schemas.microsoft.com/office/drawing/2014/main" id="{727C36CC-35BE-07DE-64CD-C1B57AD518DD}"/>
                </a:ext>
              </a:extLst>
            </p:cNvPr>
            <p:cNvSpPr txBox="1"/>
            <p:nvPr/>
          </p:nvSpPr>
          <p:spPr>
            <a:xfrm>
              <a:off x="4752505" y="2722230"/>
              <a:ext cx="1555490" cy="461665"/>
            </a:xfrm>
            <a:prstGeom prst="rect">
              <a:avLst/>
            </a:prstGeom>
            <a:noFill/>
          </p:spPr>
          <p:txBody>
            <a:bodyPr wrap="none" rtlCol="0">
              <a:spAutoFit/>
            </a:bodyPr>
            <a:lstStyle/>
            <a:p>
              <a:pPr algn="ctr"/>
              <a:r>
                <a:rPr lang="en-US" sz="1200" dirty="0"/>
                <a:t>Along Slope transect</a:t>
              </a:r>
              <a:br>
                <a:rPr lang="en-US" sz="1200" dirty="0"/>
              </a:br>
              <a:r>
                <a:rPr lang="en-US" sz="1200" dirty="0"/>
                <a:t> (400 – 1200 m)</a:t>
              </a:r>
            </a:p>
          </p:txBody>
        </p:sp>
        <p:sp>
          <p:nvSpPr>
            <p:cNvPr id="13" name="TextBox 12">
              <a:extLst>
                <a:ext uri="{FF2B5EF4-FFF2-40B4-BE49-F238E27FC236}">
                  <a16:creationId xmlns:a16="http://schemas.microsoft.com/office/drawing/2014/main" id="{7D8276B4-A96E-2DD2-C9EE-950A47668E9B}"/>
                </a:ext>
              </a:extLst>
            </p:cNvPr>
            <p:cNvSpPr txBox="1"/>
            <p:nvPr/>
          </p:nvSpPr>
          <p:spPr>
            <a:xfrm>
              <a:off x="9169586" y="2722230"/>
              <a:ext cx="1507400" cy="461665"/>
            </a:xfrm>
            <a:prstGeom prst="rect">
              <a:avLst/>
            </a:prstGeom>
            <a:noFill/>
          </p:spPr>
          <p:txBody>
            <a:bodyPr wrap="none" rtlCol="0">
              <a:spAutoFit/>
            </a:bodyPr>
            <a:lstStyle/>
            <a:p>
              <a:pPr algn="ctr"/>
              <a:r>
                <a:rPr lang="en-US" sz="1200" dirty="0"/>
                <a:t>Amundsen transect</a:t>
              </a:r>
              <a:br>
                <a:rPr lang="en-US" sz="1200" dirty="0"/>
              </a:br>
              <a:r>
                <a:rPr lang="en-US" sz="1200" dirty="0"/>
                <a:t> (400 – 1200 m)</a:t>
              </a:r>
            </a:p>
          </p:txBody>
        </p:sp>
        <p:sp>
          <p:nvSpPr>
            <p:cNvPr id="14" name="TextBox 13">
              <a:extLst>
                <a:ext uri="{FF2B5EF4-FFF2-40B4-BE49-F238E27FC236}">
                  <a16:creationId xmlns:a16="http://schemas.microsoft.com/office/drawing/2014/main" id="{7CE1B6C4-17F5-AF47-7660-BFBF87E731F7}"/>
                </a:ext>
              </a:extLst>
            </p:cNvPr>
            <p:cNvSpPr txBox="1"/>
            <p:nvPr/>
          </p:nvSpPr>
          <p:spPr>
            <a:xfrm rot="5400000">
              <a:off x="10977700" y="4693978"/>
              <a:ext cx="1249573" cy="276999"/>
            </a:xfrm>
            <a:prstGeom prst="rect">
              <a:avLst/>
            </a:prstGeom>
            <a:noFill/>
          </p:spPr>
          <p:txBody>
            <a:bodyPr wrap="none" rtlCol="0">
              <a:spAutoFit/>
            </a:bodyPr>
            <a:lstStyle/>
            <a:p>
              <a:pPr algn="ctr"/>
              <a:r>
                <a:rPr lang="en-US" sz="1200" dirty="0"/>
                <a:t>Temperature (C)</a:t>
              </a:r>
            </a:p>
          </p:txBody>
        </p:sp>
        <p:sp>
          <p:nvSpPr>
            <p:cNvPr id="15" name="TextBox 14">
              <a:extLst>
                <a:ext uri="{FF2B5EF4-FFF2-40B4-BE49-F238E27FC236}">
                  <a16:creationId xmlns:a16="http://schemas.microsoft.com/office/drawing/2014/main" id="{46034853-4253-DC72-7CB3-68BACC929909}"/>
                </a:ext>
              </a:extLst>
            </p:cNvPr>
            <p:cNvSpPr txBox="1"/>
            <p:nvPr/>
          </p:nvSpPr>
          <p:spPr>
            <a:xfrm>
              <a:off x="9643268" y="6367315"/>
              <a:ext cx="735009" cy="276999"/>
            </a:xfrm>
            <a:prstGeom prst="rect">
              <a:avLst/>
            </a:prstGeom>
            <a:noFill/>
          </p:spPr>
          <p:txBody>
            <a:bodyPr wrap="none" rtlCol="0">
              <a:spAutoFit/>
            </a:bodyPr>
            <a:lstStyle/>
            <a:p>
              <a:pPr algn="ctr"/>
              <a:r>
                <a:rPr lang="en-US" sz="1200" dirty="0"/>
                <a:t>Latitude</a:t>
              </a:r>
            </a:p>
          </p:txBody>
        </p:sp>
        <p:sp>
          <p:nvSpPr>
            <p:cNvPr id="16" name="TextBox 15">
              <a:extLst>
                <a:ext uri="{FF2B5EF4-FFF2-40B4-BE49-F238E27FC236}">
                  <a16:creationId xmlns:a16="http://schemas.microsoft.com/office/drawing/2014/main" id="{647A0EAD-89A3-BDBE-0A26-88C06A697F2B}"/>
                </a:ext>
              </a:extLst>
            </p:cNvPr>
            <p:cNvSpPr txBox="1"/>
            <p:nvPr/>
          </p:nvSpPr>
          <p:spPr>
            <a:xfrm>
              <a:off x="1310204" y="6379899"/>
              <a:ext cx="735009" cy="276999"/>
            </a:xfrm>
            <a:prstGeom prst="rect">
              <a:avLst/>
            </a:prstGeom>
            <a:noFill/>
          </p:spPr>
          <p:txBody>
            <a:bodyPr wrap="none" rtlCol="0">
              <a:spAutoFit/>
            </a:bodyPr>
            <a:lstStyle/>
            <a:p>
              <a:pPr algn="ctr"/>
              <a:r>
                <a:rPr lang="en-US" sz="1200" dirty="0"/>
                <a:t>Latitude</a:t>
              </a:r>
            </a:p>
          </p:txBody>
        </p:sp>
        <p:sp>
          <p:nvSpPr>
            <p:cNvPr id="17" name="TextBox 16">
              <a:extLst>
                <a:ext uri="{FF2B5EF4-FFF2-40B4-BE49-F238E27FC236}">
                  <a16:creationId xmlns:a16="http://schemas.microsoft.com/office/drawing/2014/main" id="{97CC97A4-A1D9-2943-147F-051485C14AD1}"/>
                </a:ext>
              </a:extLst>
            </p:cNvPr>
            <p:cNvSpPr txBox="1"/>
            <p:nvPr/>
          </p:nvSpPr>
          <p:spPr>
            <a:xfrm>
              <a:off x="5284491" y="6367315"/>
              <a:ext cx="848694" cy="276999"/>
            </a:xfrm>
            <a:prstGeom prst="rect">
              <a:avLst/>
            </a:prstGeom>
            <a:noFill/>
          </p:spPr>
          <p:txBody>
            <a:bodyPr wrap="none" rtlCol="0">
              <a:spAutoFit/>
            </a:bodyPr>
            <a:lstStyle/>
            <a:p>
              <a:pPr algn="ctr"/>
              <a:r>
                <a:rPr lang="en-US" sz="1200" dirty="0"/>
                <a:t>Longitude</a:t>
              </a:r>
            </a:p>
          </p:txBody>
        </p:sp>
      </p:grpSp>
      <p:sp>
        <p:nvSpPr>
          <p:cNvPr id="18" name="Title 1">
            <a:extLst>
              <a:ext uri="{FF2B5EF4-FFF2-40B4-BE49-F238E27FC236}">
                <a16:creationId xmlns:a16="http://schemas.microsoft.com/office/drawing/2014/main" id="{5E257F05-C4E2-A39C-11FC-60C51C471B59}"/>
              </a:ext>
            </a:extLst>
          </p:cNvPr>
          <p:cNvSpPr txBox="1">
            <a:spLocks/>
          </p:cNvSpPr>
          <p:nvPr/>
        </p:nvSpPr>
        <p:spPr>
          <a:xfrm>
            <a:off x="838200" y="1096365"/>
            <a:ext cx="10515600"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This downcast data is gridded for plotting with temperature contours overlain. The contours really reveal stations that are having a lot of the “zig-zag” feature. It doesn’t seem consistent with a specific geographic region (e.g., Makarov, Amundsen, or ridges…). </a:t>
            </a:r>
          </a:p>
        </p:txBody>
      </p:sp>
    </p:spTree>
    <p:extLst>
      <p:ext uri="{BB962C8B-B14F-4D97-AF65-F5344CB8AC3E}">
        <p14:creationId xmlns:p14="http://schemas.microsoft.com/office/powerpoint/2010/main" val="20562859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3F6AE2-D66C-AECD-687D-BD7C9D018525}"/>
              </a:ext>
            </a:extLst>
          </p:cNvPr>
          <p:cNvSpPr>
            <a:spLocks noGrp="1"/>
          </p:cNvSpPr>
          <p:nvPr>
            <p:ph type="title"/>
          </p:nvPr>
        </p:nvSpPr>
        <p:spPr>
          <a:xfrm>
            <a:off x="838200" y="365126"/>
            <a:ext cx="10515600" cy="452802"/>
          </a:xfrm>
        </p:spPr>
        <p:txBody>
          <a:bodyPr>
            <a:normAutofit fontScale="90000"/>
          </a:bodyPr>
          <a:lstStyle/>
          <a:p>
            <a:r>
              <a:rPr lang="en-US" sz="2800" dirty="0"/>
              <a:t>How does it compare to 2021 where we have overlapping stations?</a:t>
            </a:r>
          </a:p>
        </p:txBody>
      </p:sp>
      <p:sp>
        <p:nvSpPr>
          <p:cNvPr id="4" name="Title 1">
            <a:extLst>
              <a:ext uri="{FF2B5EF4-FFF2-40B4-BE49-F238E27FC236}">
                <a16:creationId xmlns:a16="http://schemas.microsoft.com/office/drawing/2014/main" id="{65AA6EA8-8CEB-D799-6963-EDD6CA788708}"/>
              </a:ext>
            </a:extLst>
          </p:cNvPr>
          <p:cNvSpPr txBox="1">
            <a:spLocks/>
          </p:cNvSpPr>
          <p:nvPr/>
        </p:nvSpPr>
        <p:spPr>
          <a:xfrm>
            <a:off x="838200" y="1096365"/>
            <a:ext cx="10515600" cy="610795"/>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sz="1400" dirty="0"/>
              <a:t>This was a quick comparison I made pulling </a:t>
            </a:r>
            <a:r>
              <a:rPr lang="en-US" sz="1400" dirty="0" err="1"/>
              <a:t>cnv</a:t>
            </a:r>
            <a:r>
              <a:rPr lang="en-US" sz="1400" dirty="0"/>
              <a:t> files from 2021 and 2023. 2021 was only the downcast and binned, 2023 I was interested to see both down and upcasts (feature exists in both directions), so it’s at the stage in processing before binning. I’ve pulled two stations for a quick comparison: one station that doesn’t really have a strong zig-zag feature and one station that does. </a:t>
            </a:r>
          </a:p>
        </p:txBody>
      </p:sp>
      <p:pic>
        <p:nvPicPr>
          <p:cNvPr id="7" name="Picture 6">
            <a:extLst>
              <a:ext uri="{FF2B5EF4-FFF2-40B4-BE49-F238E27FC236}">
                <a16:creationId xmlns:a16="http://schemas.microsoft.com/office/drawing/2014/main" id="{E41AC8A9-7D40-F923-F83A-BB249B4213C7}"/>
              </a:ext>
            </a:extLst>
          </p:cNvPr>
          <p:cNvPicPr>
            <a:picLocks noChangeAspect="1"/>
          </p:cNvPicPr>
          <p:nvPr/>
        </p:nvPicPr>
        <p:blipFill>
          <a:blip r:embed="rId2"/>
          <a:stretch>
            <a:fillRect/>
          </a:stretch>
        </p:blipFill>
        <p:spPr>
          <a:xfrm>
            <a:off x="216075" y="1707160"/>
            <a:ext cx="3499066" cy="2835479"/>
          </a:xfrm>
          <a:prstGeom prst="rect">
            <a:avLst/>
          </a:prstGeom>
        </p:spPr>
      </p:pic>
      <p:pic>
        <p:nvPicPr>
          <p:cNvPr id="11" name="Picture 10">
            <a:extLst>
              <a:ext uri="{FF2B5EF4-FFF2-40B4-BE49-F238E27FC236}">
                <a16:creationId xmlns:a16="http://schemas.microsoft.com/office/drawing/2014/main" id="{F9242484-5250-114F-B395-1460E9EAF91C}"/>
              </a:ext>
            </a:extLst>
          </p:cNvPr>
          <p:cNvPicPr>
            <a:picLocks noChangeAspect="1"/>
          </p:cNvPicPr>
          <p:nvPr/>
        </p:nvPicPr>
        <p:blipFill>
          <a:blip r:embed="rId3"/>
          <a:stretch>
            <a:fillRect/>
          </a:stretch>
        </p:blipFill>
        <p:spPr>
          <a:xfrm>
            <a:off x="3984071" y="3479765"/>
            <a:ext cx="3607966" cy="2886373"/>
          </a:xfrm>
          <a:prstGeom prst="rect">
            <a:avLst/>
          </a:prstGeom>
        </p:spPr>
      </p:pic>
      <p:pic>
        <p:nvPicPr>
          <p:cNvPr id="13" name="Picture 12">
            <a:extLst>
              <a:ext uri="{FF2B5EF4-FFF2-40B4-BE49-F238E27FC236}">
                <a16:creationId xmlns:a16="http://schemas.microsoft.com/office/drawing/2014/main" id="{73C40126-AEB4-64D3-13D9-7F026B7E2E54}"/>
              </a:ext>
            </a:extLst>
          </p:cNvPr>
          <p:cNvPicPr>
            <a:picLocks noChangeAspect="1"/>
          </p:cNvPicPr>
          <p:nvPr/>
        </p:nvPicPr>
        <p:blipFill>
          <a:blip r:embed="rId4"/>
          <a:stretch>
            <a:fillRect/>
          </a:stretch>
        </p:blipFill>
        <p:spPr>
          <a:xfrm>
            <a:off x="7747234" y="1707160"/>
            <a:ext cx="3775045" cy="3135384"/>
          </a:xfrm>
          <a:prstGeom prst="rect">
            <a:avLst/>
          </a:prstGeom>
        </p:spPr>
      </p:pic>
    </p:spTree>
    <p:extLst>
      <p:ext uri="{BB962C8B-B14F-4D97-AF65-F5344CB8AC3E}">
        <p14:creationId xmlns:p14="http://schemas.microsoft.com/office/powerpoint/2010/main" val="326154292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C275F-5E82-F20B-BBAC-504A812A3F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1E2387-0939-14EF-20A2-9D6598A4F032}"/>
              </a:ext>
            </a:extLst>
          </p:cNvPr>
          <p:cNvSpPr>
            <a:spLocks noGrp="1"/>
          </p:cNvSpPr>
          <p:nvPr>
            <p:ph type="title"/>
          </p:nvPr>
        </p:nvSpPr>
        <p:spPr>
          <a:xfrm>
            <a:off x="838200" y="365126"/>
            <a:ext cx="10515600" cy="452802"/>
          </a:xfrm>
        </p:spPr>
        <p:txBody>
          <a:bodyPr>
            <a:normAutofit fontScale="90000"/>
          </a:bodyPr>
          <a:lstStyle/>
          <a:p>
            <a:r>
              <a:rPr lang="en-US" sz="2800" dirty="0"/>
              <a:t>Summary of thoughts</a:t>
            </a:r>
          </a:p>
        </p:txBody>
      </p:sp>
      <p:sp>
        <p:nvSpPr>
          <p:cNvPr id="3" name="Content Placeholder 2">
            <a:extLst>
              <a:ext uri="{FF2B5EF4-FFF2-40B4-BE49-F238E27FC236}">
                <a16:creationId xmlns:a16="http://schemas.microsoft.com/office/drawing/2014/main" id="{663E6E09-C94A-886E-976F-89B99357B7A6}"/>
              </a:ext>
            </a:extLst>
          </p:cNvPr>
          <p:cNvSpPr>
            <a:spLocks noGrp="1"/>
          </p:cNvSpPr>
          <p:nvPr>
            <p:ph idx="1"/>
          </p:nvPr>
        </p:nvSpPr>
        <p:spPr>
          <a:xfrm>
            <a:off x="838200" y="1404711"/>
            <a:ext cx="10515600" cy="4351338"/>
          </a:xfrm>
        </p:spPr>
        <p:txBody>
          <a:bodyPr>
            <a:normAutofit fontScale="92500" lnSpcReduction="10000"/>
          </a:bodyPr>
          <a:lstStyle/>
          <a:p>
            <a:pPr marL="514350" indent="-514350">
              <a:buAutoNum type="arabicParenR"/>
            </a:pPr>
            <a:r>
              <a:rPr lang="en-US" dirty="0"/>
              <a:t>Primary and secondary sensors are affected but are plumbed on separately. </a:t>
            </a:r>
          </a:p>
          <a:p>
            <a:pPr marL="514350" indent="-514350">
              <a:buAutoNum type="arabicParenR"/>
            </a:pPr>
            <a:r>
              <a:rPr lang="en-US" dirty="0"/>
              <a:t>When there is a “squiggle” feature, it occurs in both downcast and upcast data. (not validated for all stations, but spot-checked) </a:t>
            </a:r>
          </a:p>
          <a:p>
            <a:pPr marL="514350" indent="-514350">
              <a:buFont typeface="Arial" panose="020B0604020202020204" pitchFamily="34" charset="0"/>
              <a:buAutoNum type="arabicParenR"/>
            </a:pPr>
            <a:r>
              <a:rPr lang="en-US" dirty="0"/>
              <a:t>No significant difference between raw scans and binned profiles. </a:t>
            </a:r>
          </a:p>
          <a:p>
            <a:pPr marL="514350" indent="-514350">
              <a:buFont typeface="Arial" panose="020B0604020202020204" pitchFamily="34" charset="0"/>
              <a:buAutoNum type="arabicParenR"/>
            </a:pPr>
            <a:r>
              <a:rPr lang="en-US" dirty="0"/>
              <a:t>Pressure sensor increases with time (likely not a pressure sensor issue)</a:t>
            </a:r>
          </a:p>
          <a:p>
            <a:pPr marL="514350" indent="-514350">
              <a:buAutoNum type="arabicParenR"/>
            </a:pPr>
            <a:r>
              <a:rPr lang="en-US" dirty="0"/>
              <a:t>Preliminary geographic assessment doesn’t reveal consistency with location/regions. </a:t>
            </a:r>
          </a:p>
          <a:p>
            <a:pPr marL="514350" indent="-514350">
              <a:buAutoNum type="arabicParenR"/>
            </a:pPr>
            <a:r>
              <a:rPr lang="en-US" dirty="0"/>
              <a:t>Squiggles are frequently aligned with </a:t>
            </a:r>
            <a:r>
              <a:rPr lang="en-US" dirty="0" err="1"/>
              <a:t>isopycnals</a:t>
            </a:r>
            <a:r>
              <a:rPr lang="en-US" dirty="0"/>
              <a:t>: </a:t>
            </a:r>
            <a:r>
              <a:rPr lang="en-US" b="0" i="0" dirty="0">
                <a:solidFill>
                  <a:srgbClr val="D1D2D3"/>
                </a:solidFill>
                <a:effectLst/>
                <a:latin typeface="Slack-Lato"/>
              </a:rPr>
              <a:t>why are these features </a:t>
            </a:r>
            <a:r>
              <a:rPr lang="en-US" b="0" i="0" dirty="0" err="1">
                <a:solidFill>
                  <a:srgbClr val="D1D2D3"/>
                </a:solidFill>
                <a:effectLst/>
                <a:latin typeface="Slack-Lato"/>
              </a:rPr>
              <a:t>isopycnal</a:t>
            </a:r>
            <a:r>
              <a:rPr lang="en-US" b="0" i="0" dirty="0">
                <a:solidFill>
                  <a:srgbClr val="D1D2D3"/>
                </a:solidFill>
                <a:effectLst/>
                <a:latin typeface="Slack-Lato"/>
              </a:rPr>
              <a:t> but not homogenous ("stratified" with spice)</a:t>
            </a:r>
            <a:endParaRPr lang="en-US" dirty="0"/>
          </a:p>
          <a:p>
            <a:pPr marL="514350" indent="-514350">
              <a:buAutoNum type="arabicParenR"/>
            </a:pPr>
            <a:endParaRPr lang="en-US" dirty="0"/>
          </a:p>
        </p:txBody>
      </p:sp>
    </p:spTree>
    <p:extLst>
      <p:ext uri="{BB962C8B-B14F-4D97-AF65-F5344CB8AC3E}">
        <p14:creationId xmlns:p14="http://schemas.microsoft.com/office/powerpoint/2010/main" val="247674173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4342</TotalTime>
  <Words>531</Words>
  <Application>Microsoft Office PowerPoint</Application>
  <PresentationFormat>Widescreen</PresentationFormat>
  <Paragraphs>37</Paragraphs>
  <Slides>11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Aptos Display</vt:lpstr>
      <vt:lpstr>Arial</vt:lpstr>
      <vt:lpstr>Slack-Lato</vt:lpstr>
      <vt:lpstr>Office Theme</vt:lpstr>
      <vt:lpstr>Overview of CTD Data from NABOS 2023</vt:lpstr>
      <vt:lpstr>Map overview with station numbers for reference</vt:lpstr>
      <vt:lpstr>First signs of confusion:</vt:lpstr>
      <vt:lpstr>First signs of confusion:</vt:lpstr>
      <vt:lpstr>Example Station 21</vt:lpstr>
      <vt:lpstr>Example Station 38 (~10 nm from M1)</vt:lpstr>
      <vt:lpstr>Let’s look at TS plots &amp; sigma theta space… </vt:lpstr>
      <vt:lpstr>Let’s look at TS plots &amp; sigma theta space… </vt:lpstr>
      <vt:lpstr>Where is this happening geographically?</vt:lpstr>
      <vt:lpstr>How does it compare to 2021 where we have overlapping stations?</vt:lpstr>
      <vt:lpstr>Summary of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 W</dc:creator>
  <cp:lastModifiedBy>L W</cp:lastModifiedBy>
  <cp:revision>4</cp:revision>
  <dcterms:created xsi:type="dcterms:W3CDTF">2025-01-17T22:49:29Z</dcterms:created>
  <dcterms:modified xsi:type="dcterms:W3CDTF">2025-01-20T23:26:30Z</dcterms:modified>
</cp:coreProperties>
</file>